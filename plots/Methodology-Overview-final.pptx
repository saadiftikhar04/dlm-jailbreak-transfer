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28016"/>
            <a:ext cx="4820717" cy="6583680"/>
          </a:xfrm>
          <a:prstGeom prst="roundRect">
            <a:avLst>
              <a:gd name="adj" fmla="val 1897"/>
            </a:avLst>
          </a:prstGeom>
          <a:solidFill>
            <a:srgbClr val="F6F7F9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82880"/>
            <a:ext cx="48207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277917" y="128016"/>
            <a:ext cx="3226003" cy="6583680"/>
          </a:xfrm>
          <a:prstGeom prst="roundRect">
            <a:avLst>
              <a:gd name="adj" fmla="val 2834"/>
            </a:avLst>
          </a:prstGeom>
          <a:solidFill>
            <a:srgbClr val="F6F7F9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77917" y="182880"/>
            <a:ext cx="322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78240" y="128016"/>
            <a:ext cx="3226003" cy="6583680"/>
          </a:xfrm>
          <a:prstGeom prst="roundRect">
            <a:avLst>
              <a:gd name="adj" fmla="val 2834"/>
            </a:avLst>
          </a:prstGeom>
          <a:solidFill>
            <a:srgbClr val="F6F7F9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182880"/>
            <a:ext cx="322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08169" y="3246120"/>
            <a:ext cx="256032" cy="6035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9" name="Shape 7"/>
          <p:cNvSpPr/>
          <p:nvPr/>
        </p:nvSpPr>
        <p:spPr>
          <a:xfrm>
            <a:off x="8508492" y="3246120"/>
            <a:ext cx="256032" cy="6035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603504"/>
            <a:ext cx="329184" cy="329184"/>
          </a:xfrm>
          <a:prstGeom prst="ellipse">
            <a:avLst/>
          </a:prstGeom>
          <a:solidFill>
            <a:srgbClr val="2F6BD8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Models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2F6BD8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50746" y="603504"/>
            <a:ext cx="329184" cy="329184"/>
          </a:xfrm>
          <a:prstGeom prst="ellipse">
            <a:avLst/>
          </a:prstGeom>
          <a:solidFill>
            <a:srgbClr val="1E9E57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50746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34794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Prompt Benchmarks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50746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1E9E57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45459" y="603504"/>
            <a:ext cx="329184" cy="329184"/>
          </a:xfrm>
          <a:prstGeom prst="ellipse">
            <a:avLst/>
          </a:prstGeom>
          <a:solidFill>
            <a:srgbClr val="E07B1A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45459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29507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Generation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45459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E07B1A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51069" y="603504"/>
            <a:ext cx="329184" cy="329184"/>
          </a:xfrm>
          <a:prstGeom prst="ellipse">
            <a:avLst/>
          </a:prstGeom>
          <a:solidFill>
            <a:srgbClr val="7A45D6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51069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35117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Evaluation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51069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7A45D6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5782" y="603504"/>
            <a:ext cx="329184" cy="329184"/>
          </a:xfrm>
          <a:prstGeom prst="ellipse">
            <a:avLst/>
          </a:prstGeom>
          <a:solidFill>
            <a:srgbClr val="2F6BD8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5782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29830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45782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2F6BD8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51392" y="603504"/>
            <a:ext cx="329184" cy="329184"/>
          </a:xfrm>
          <a:prstGeom prst="ellipse">
            <a:avLst/>
          </a:prstGeom>
          <a:solidFill>
            <a:srgbClr val="D23B3B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51392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35440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Judging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851392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D23B3B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46106" y="603504"/>
            <a:ext cx="329184" cy="329184"/>
          </a:xfrm>
          <a:prstGeom prst="ellipse">
            <a:avLst/>
          </a:prstGeom>
          <a:solidFill>
            <a:srgbClr val="475467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446106" y="603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30154" y="557784"/>
            <a:ext cx="11009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Analysis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446106" y="1097280"/>
            <a:ext cx="1484986" cy="5449824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17780">
            <a:solidFill>
              <a:srgbClr val="475467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7766" y="32461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0318090" y="32461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356616" y="1133856"/>
            <a:ext cx="1283818" cy="292608"/>
          </a:xfrm>
          <a:prstGeom prst="roundRect">
            <a:avLst>
              <a:gd name="adj" fmla="val 12500"/>
            </a:avLst>
          </a:prstGeom>
          <a:solidFill>
            <a:srgbClr val="EAF1FC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188720"/>
            <a:ext cx="182880" cy="18288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30936" y="1133856"/>
            <a:ext cx="100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LLMs</a:t>
            </a:r>
            <a:endParaRPr lang="en-US" sz="940" dirty="0"/>
          </a:p>
        </p:txBody>
      </p:sp>
      <p:sp>
        <p:nvSpPr>
          <p:cNvPr id="43" name="Shape 40"/>
          <p:cNvSpPr/>
          <p:nvPr/>
        </p:nvSpPr>
        <p:spPr>
          <a:xfrm>
            <a:off x="356616" y="1481328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5064"/>
            <a:ext cx="310896" cy="31089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32104" y="1508760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AR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56616" y="2249424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10896" cy="310896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32104" y="2276856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AR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356616" y="3017520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91256"/>
            <a:ext cx="310896" cy="310896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32104" y="3044952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Falcon-H1R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 ∥ Mamba-2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356616" y="3822192"/>
            <a:ext cx="1283818" cy="292608"/>
          </a:xfrm>
          <a:prstGeom prst="roundRect">
            <a:avLst>
              <a:gd name="adj" fmla="val 12500"/>
            </a:avLst>
          </a:prstGeom>
          <a:solidFill>
            <a:srgbClr val="EAF1FC"/>
          </a:solidFill>
          <a:ln/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877056"/>
            <a:ext cx="182880" cy="1828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630936" y="3822192"/>
            <a:ext cx="100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LMs</a:t>
            </a:r>
            <a:endParaRPr lang="en-US" sz="940" dirty="0"/>
          </a:p>
        </p:txBody>
      </p:sp>
      <p:sp>
        <p:nvSpPr>
          <p:cNvPr id="55" name="Shape 48"/>
          <p:cNvSpPr/>
          <p:nvPr/>
        </p:nvSpPr>
        <p:spPr>
          <a:xfrm>
            <a:off x="356616" y="4206240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79976"/>
            <a:ext cx="310896" cy="310896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832104" y="4233672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LLaDA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diffusion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356616" y="4974336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148072"/>
            <a:ext cx="310896" cy="310896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32104" y="5001768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· AR-init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356616" y="5742432"/>
            <a:ext cx="1283818" cy="658368"/>
          </a:xfrm>
          <a:prstGeom prst="roundRect">
            <a:avLst>
              <a:gd name="adj" fmla="val 6944"/>
            </a:avLst>
          </a:prstGeom>
          <a:solidFill>
            <a:srgbClr val="F4F8FE"/>
          </a:solidFill>
          <a:ln w="10160">
            <a:solidFill>
              <a:srgbClr val="2F6BD8"/>
            </a:solidFill>
            <a:prstDash val="solid"/>
          </a:ln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916168"/>
            <a:ext cx="310896" cy="310896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832104" y="5769864"/>
            <a:ext cx="75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DiffuCoder</a:t>
            </a:r>
            <a:endParaRPr lang="en-US" sz="105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2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diffusion</a:t>
            </a:r>
            <a:endParaRPr lang="en-US" sz="1050" dirty="0"/>
          </a:p>
        </p:txBody>
      </p:sp>
      <p:sp>
        <p:nvSpPr>
          <p:cNvPr id="64" name="Shape 54"/>
          <p:cNvSpPr/>
          <p:nvPr/>
        </p:nvSpPr>
        <p:spPr>
          <a:xfrm>
            <a:off x="1951330" y="1133856"/>
            <a:ext cx="1283818" cy="512064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 w="10160">
            <a:solidFill>
              <a:srgbClr val="1E9E57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997050" y="1161288"/>
            <a:ext cx="119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HarmBench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prompts</a:t>
            </a:r>
            <a:endParaRPr lang="en-US" sz="1000" dirty="0"/>
          </a:p>
        </p:txBody>
      </p:sp>
      <p:sp>
        <p:nvSpPr>
          <p:cNvPr id="66" name="Shape 56"/>
          <p:cNvSpPr/>
          <p:nvPr/>
        </p:nvSpPr>
        <p:spPr>
          <a:xfrm>
            <a:off x="1951330" y="1755648"/>
            <a:ext cx="1283818" cy="512064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 w="10160">
            <a:solidFill>
              <a:srgbClr val="1E9E57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1997050" y="1783080"/>
            <a:ext cx="119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MaliciousInstruct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prompts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1951330" y="2377440"/>
            <a:ext cx="1283818" cy="512064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 w="10160">
            <a:solidFill>
              <a:srgbClr val="1E9E57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1997050" y="2404872"/>
            <a:ext cx="119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JailbreakBench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prompts</a:t>
            </a:r>
            <a:endParaRPr lang="en-US" sz="1000" dirty="0"/>
          </a:p>
        </p:txBody>
      </p:sp>
      <p:sp>
        <p:nvSpPr>
          <p:cNvPr id="70" name="Shape 60"/>
          <p:cNvSpPr/>
          <p:nvPr/>
        </p:nvSpPr>
        <p:spPr>
          <a:xfrm>
            <a:off x="1951330" y="2999232"/>
            <a:ext cx="1283818" cy="512064"/>
          </a:xfrm>
          <a:prstGeom prst="roundRect">
            <a:avLst>
              <a:gd name="adj" fmla="val 8929"/>
            </a:avLst>
          </a:prstGeom>
          <a:solidFill>
            <a:srgbClr val="F3FAF6"/>
          </a:solidFill>
          <a:ln w="10160">
            <a:solidFill>
              <a:srgbClr val="1E9E57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1997050" y="3026664"/>
            <a:ext cx="119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StrongREJECT</a:t>
            </a:r>
            <a:endParaRPr lang="en-US" sz="10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 prompts</a:t>
            </a:r>
            <a:endParaRPr lang="en-US" sz="1000" dirty="0"/>
          </a:p>
        </p:txBody>
      </p:sp>
      <p:sp>
        <p:nvSpPr>
          <p:cNvPr id="72" name="Shape 62"/>
          <p:cNvSpPr/>
          <p:nvPr/>
        </p:nvSpPr>
        <p:spPr>
          <a:xfrm>
            <a:off x="1987906" y="3584448"/>
            <a:ext cx="1210666" cy="2798064"/>
          </a:xfrm>
          <a:prstGeom prst="can">
            <a:avLst/>
          </a:prstGeom>
          <a:solidFill>
            <a:srgbClr val="1E9E57"/>
          </a:solidFill>
          <a:ln w="12700">
            <a:solidFill>
              <a:srgbClr val="157A4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Text 63"/>
          <p:cNvSpPr/>
          <p:nvPr/>
        </p:nvSpPr>
        <p:spPr>
          <a:xfrm>
            <a:off x="1987906" y="3986784"/>
            <a:ext cx="121066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913</a:t>
            </a:r>
            <a:endParaRPr lang="en-US" sz="36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36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7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pool</a:t>
            </a:r>
            <a:endParaRPr lang="en-US" sz="3600" dirty="0"/>
          </a:p>
        </p:txBody>
      </p:sp>
      <p:sp>
        <p:nvSpPr>
          <p:cNvPr id="74" name="Shape 64"/>
          <p:cNvSpPr/>
          <p:nvPr/>
        </p:nvSpPr>
        <p:spPr>
          <a:xfrm>
            <a:off x="3546043" y="1188720"/>
            <a:ext cx="1283818" cy="1517904"/>
          </a:xfrm>
          <a:prstGeom prst="roundRect">
            <a:avLst>
              <a:gd name="adj" fmla="val 4274"/>
            </a:avLst>
          </a:prstGeom>
          <a:solidFill>
            <a:srgbClr val="FEF8F0"/>
          </a:solidFill>
          <a:ln w="12700">
            <a:solidFill>
              <a:srgbClr val="E07B1A"/>
            </a:solidFill>
            <a:prstDash val="solid"/>
          </a:ln>
        </p:spPr>
      </p:sp>
      <p:pic>
        <p:nvPicPr>
          <p:cNvPr id="75" name="Image 8" descr="/tmp/icons/pif_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0646" y="1280160"/>
            <a:ext cx="634612" cy="786384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3600907" y="2103120"/>
            <a:ext cx="117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4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PiF</a:t>
            </a:r>
            <a:endParaRPr lang="en-US" sz="1450" dirty="0"/>
          </a:p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2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salience flattening</a:t>
            </a:r>
            <a:endParaRPr lang="en-US" sz="1450" dirty="0"/>
          </a:p>
        </p:txBody>
      </p:sp>
      <p:sp>
        <p:nvSpPr>
          <p:cNvPr id="77" name="Shape 66"/>
          <p:cNvSpPr/>
          <p:nvPr/>
        </p:nvSpPr>
        <p:spPr>
          <a:xfrm>
            <a:off x="3546043" y="2834640"/>
            <a:ext cx="1283818" cy="1517904"/>
          </a:xfrm>
          <a:prstGeom prst="roundRect">
            <a:avLst>
              <a:gd name="adj" fmla="val 4274"/>
            </a:avLst>
          </a:prstGeom>
          <a:solidFill>
            <a:srgbClr val="FEF8F0"/>
          </a:solidFill>
          <a:ln w="12700">
            <a:solidFill>
              <a:srgbClr val="E07B1A"/>
            </a:solidFill>
            <a:prstDash val="solid"/>
          </a:ln>
        </p:spPr>
      </p:sp>
      <p:pic>
        <p:nvPicPr>
          <p:cNvPr id="78" name="Image 9" descr="/tmp/icons/arrattack_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767" y="2926080"/>
            <a:ext cx="602370" cy="786384"/>
          </a:xfrm>
          <a:prstGeom prst="rect">
            <a:avLst/>
          </a:prstGeom>
        </p:spPr>
      </p:pic>
      <p:sp>
        <p:nvSpPr>
          <p:cNvPr id="79" name="Text 67"/>
          <p:cNvSpPr/>
          <p:nvPr/>
        </p:nvSpPr>
        <p:spPr>
          <a:xfrm>
            <a:off x="3600907" y="3749040"/>
            <a:ext cx="117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4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ArrAttack</a:t>
            </a:r>
            <a:endParaRPr lang="en-US" sz="1450" dirty="0"/>
          </a:p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2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rewriting</a:t>
            </a:r>
            <a:endParaRPr lang="en-US" sz="1450" dirty="0"/>
          </a:p>
        </p:txBody>
      </p:sp>
      <p:sp>
        <p:nvSpPr>
          <p:cNvPr id="80" name="Shape 68"/>
          <p:cNvSpPr/>
          <p:nvPr/>
        </p:nvSpPr>
        <p:spPr>
          <a:xfrm>
            <a:off x="3546043" y="4480560"/>
            <a:ext cx="1283818" cy="1517904"/>
          </a:xfrm>
          <a:prstGeom prst="roundRect">
            <a:avLst>
              <a:gd name="adj" fmla="val 4274"/>
            </a:avLst>
          </a:prstGeom>
          <a:solidFill>
            <a:srgbClr val="FEF8F0"/>
          </a:solidFill>
          <a:ln w="12700">
            <a:solidFill>
              <a:srgbClr val="E07B1A"/>
            </a:solidFill>
            <a:prstDash val="solid"/>
          </a:ln>
        </p:spPr>
      </p:sp>
      <p:pic>
        <p:nvPicPr>
          <p:cNvPr id="81" name="Image 10" descr="/tmp/icons/metacipher_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78510" y="4572000"/>
            <a:ext cx="618884" cy="786384"/>
          </a:xfrm>
          <a:prstGeom prst="rect">
            <a:avLst/>
          </a:prstGeom>
        </p:spPr>
      </p:pic>
      <p:sp>
        <p:nvSpPr>
          <p:cNvPr id="82" name="Text 69"/>
          <p:cNvSpPr/>
          <p:nvPr/>
        </p:nvSpPr>
        <p:spPr>
          <a:xfrm>
            <a:off x="3600907" y="5394960"/>
            <a:ext cx="117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4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MetaCipher</a:t>
            </a:r>
            <a:endParaRPr lang="en-US" sz="1450" dirty="0"/>
          </a:p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2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 + RL</a:t>
            </a:r>
            <a:endParaRPr lang="en-US" sz="1450" dirty="0"/>
          </a:p>
        </p:txBody>
      </p:sp>
      <p:sp>
        <p:nvSpPr>
          <p:cNvPr id="83" name="Text 70"/>
          <p:cNvSpPr/>
          <p:nvPr/>
        </p:nvSpPr>
        <p:spPr>
          <a:xfrm>
            <a:off x="5451653" y="1097280"/>
            <a:ext cx="128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cross-product design</a:t>
            </a:r>
            <a:endParaRPr lang="en-US" sz="880" dirty="0"/>
          </a:p>
        </p:txBody>
      </p:sp>
      <p:sp>
        <p:nvSpPr>
          <p:cNvPr id="84" name="Shape 71"/>
          <p:cNvSpPr/>
          <p:nvPr/>
        </p:nvSpPr>
        <p:spPr>
          <a:xfrm>
            <a:off x="5488229" y="1444752"/>
            <a:ext cx="1210666" cy="914400"/>
          </a:xfrm>
          <a:prstGeom prst="roundRect">
            <a:avLst>
              <a:gd name="adj" fmla="val 10000"/>
            </a:avLst>
          </a:prstGeom>
          <a:solidFill>
            <a:srgbClr val="F1EBFB"/>
          </a:solidFill>
          <a:ln w="12700">
            <a:solidFill>
              <a:srgbClr val="E2D6F7"/>
            </a:solidFill>
            <a:prstDash val="solid"/>
          </a:ln>
        </p:spPr>
      </p:sp>
      <p:sp>
        <p:nvSpPr>
          <p:cNvPr id="85" name="Text 72"/>
          <p:cNvSpPr/>
          <p:nvPr/>
        </p:nvSpPr>
        <p:spPr>
          <a:xfrm>
            <a:off x="5543093" y="1444752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86" name="Text 73"/>
          <p:cNvSpPr/>
          <p:nvPr/>
        </p:nvSpPr>
        <p:spPr>
          <a:xfrm>
            <a:off x="5982005" y="1444752"/>
            <a:ext cx="68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90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</a:t>
            </a:r>
            <a:endParaRPr lang="en-US" sz="900" dirty="0"/>
          </a:p>
        </p:txBody>
      </p:sp>
      <p:sp>
        <p:nvSpPr>
          <p:cNvPr id="87" name="Text 74"/>
          <p:cNvSpPr/>
          <p:nvPr/>
        </p:nvSpPr>
        <p:spPr>
          <a:xfrm>
            <a:off x="5488229" y="2359152"/>
            <a:ext cx="1210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8" name="Shape 75"/>
          <p:cNvSpPr/>
          <p:nvPr/>
        </p:nvSpPr>
        <p:spPr>
          <a:xfrm>
            <a:off x="5488229" y="2651760"/>
            <a:ext cx="1210666" cy="914400"/>
          </a:xfrm>
          <a:prstGeom prst="roundRect">
            <a:avLst>
              <a:gd name="adj" fmla="val 10000"/>
            </a:avLst>
          </a:prstGeom>
          <a:solidFill>
            <a:srgbClr val="F1EBFB"/>
          </a:solidFill>
          <a:ln w="12700">
            <a:solidFill>
              <a:srgbClr val="E2D6F7"/>
            </a:solidFill>
            <a:prstDash val="solid"/>
          </a:ln>
        </p:spPr>
      </p:sp>
      <p:sp>
        <p:nvSpPr>
          <p:cNvPr id="89" name="Text 76"/>
          <p:cNvSpPr/>
          <p:nvPr/>
        </p:nvSpPr>
        <p:spPr>
          <a:xfrm>
            <a:off x="5543093" y="2651760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0" name="Text 77"/>
          <p:cNvSpPr/>
          <p:nvPr/>
        </p:nvSpPr>
        <p:spPr>
          <a:xfrm>
            <a:off x="5982005" y="2651760"/>
            <a:ext cx="68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</a:t>
            </a:r>
            <a:endParaRPr lang="en-US" sz="90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91" name="Text 78"/>
          <p:cNvSpPr/>
          <p:nvPr/>
        </p:nvSpPr>
        <p:spPr>
          <a:xfrm>
            <a:off x="5488229" y="3566160"/>
            <a:ext cx="1210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92" name="Shape 79"/>
          <p:cNvSpPr/>
          <p:nvPr/>
        </p:nvSpPr>
        <p:spPr>
          <a:xfrm>
            <a:off x="5488229" y="3858768"/>
            <a:ext cx="1210666" cy="914400"/>
          </a:xfrm>
          <a:prstGeom prst="roundRect">
            <a:avLst>
              <a:gd name="adj" fmla="val 10000"/>
            </a:avLst>
          </a:prstGeom>
          <a:solidFill>
            <a:srgbClr val="F1EBFB"/>
          </a:solidFill>
          <a:ln w="12700">
            <a:solidFill>
              <a:srgbClr val="E2D6F7"/>
            </a:solidFill>
            <a:prstDash val="solid"/>
          </a:ln>
        </p:spPr>
      </p:sp>
      <p:sp>
        <p:nvSpPr>
          <p:cNvPr id="93" name="Text 80"/>
          <p:cNvSpPr/>
          <p:nvPr/>
        </p:nvSpPr>
        <p:spPr>
          <a:xfrm>
            <a:off x="5543093" y="3858768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94" name="Text 81"/>
          <p:cNvSpPr/>
          <p:nvPr/>
        </p:nvSpPr>
        <p:spPr>
          <a:xfrm>
            <a:off x="5982005" y="3858768"/>
            <a:ext cx="68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  <a:p>
            <a:pPr algn="l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</a:t>
            </a:r>
            <a:endParaRPr lang="en-US" sz="900" dirty="0"/>
          </a:p>
        </p:txBody>
      </p:sp>
      <p:sp>
        <p:nvSpPr>
          <p:cNvPr id="95" name="Text 82"/>
          <p:cNvSpPr/>
          <p:nvPr/>
        </p:nvSpPr>
        <p:spPr>
          <a:xfrm>
            <a:off x="5488229" y="4773168"/>
            <a:ext cx="1210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4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96" name="Shape 83"/>
          <p:cNvSpPr/>
          <p:nvPr/>
        </p:nvSpPr>
        <p:spPr>
          <a:xfrm>
            <a:off x="5488229" y="5065776"/>
            <a:ext cx="1210666" cy="950976"/>
          </a:xfrm>
          <a:prstGeom prst="roundRect">
            <a:avLst>
              <a:gd name="adj" fmla="val 9615"/>
            </a:avLst>
          </a:prstGeom>
          <a:solidFill>
            <a:srgbClr val="7A45D6"/>
          </a:solidFill>
          <a:ln/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pic>
        <p:nvPicPr>
          <p:cNvPr id="9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2821" y="5404104"/>
            <a:ext cx="274320" cy="274320"/>
          </a:xfrm>
          <a:prstGeom prst="rect">
            <a:avLst/>
          </a:prstGeom>
        </p:spPr>
      </p:pic>
      <p:sp>
        <p:nvSpPr>
          <p:cNvPr id="98" name="Text 84"/>
          <p:cNvSpPr/>
          <p:nvPr/>
        </p:nvSpPr>
        <p:spPr>
          <a:xfrm>
            <a:off x="6000293" y="5065776"/>
            <a:ext cx="6437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factorial</a:t>
            </a:r>
            <a:endParaRPr lang="en-US" sz="1150" dirty="0"/>
          </a:p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ED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combination run</a:t>
            </a:r>
            <a:endParaRPr lang="en-US" sz="1150" dirty="0"/>
          </a:p>
        </p:txBody>
      </p:sp>
      <p:sp>
        <p:nvSpPr>
          <p:cNvPr id="99" name="Shape 85"/>
          <p:cNvSpPr/>
          <p:nvPr/>
        </p:nvSpPr>
        <p:spPr>
          <a:xfrm>
            <a:off x="7046366" y="1335024"/>
            <a:ext cx="1283818" cy="960120"/>
          </a:xfrm>
          <a:prstGeom prst="roundRect">
            <a:avLst>
              <a:gd name="adj" fmla="val 6667"/>
            </a:avLst>
          </a:prstGeom>
          <a:solidFill>
            <a:srgbClr val="EAF1FC"/>
          </a:solidFill>
          <a:ln w="15240">
            <a:solidFill>
              <a:srgbClr val="2F6BD8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pic>
        <p:nvPicPr>
          <p:cNvPr id="10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2670" y="1650492"/>
            <a:ext cx="329184" cy="329184"/>
          </a:xfrm>
          <a:prstGeom prst="rect">
            <a:avLst/>
          </a:prstGeom>
        </p:spPr>
      </p:pic>
      <p:sp>
        <p:nvSpPr>
          <p:cNvPr id="101" name="Text 86"/>
          <p:cNvSpPr/>
          <p:nvPr/>
        </p:nvSpPr>
        <p:spPr>
          <a:xfrm>
            <a:off x="7558430" y="1335024"/>
            <a:ext cx="7168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</a:t>
            </a:r>
            <a:endParaRPr lang="en-US" sz="1100" dirty="0"/>
          </a:p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x′</a:t>
            </a:r>
            <a:endParaRPr lang="en-US" sz="1100" dirty="0"/>
          </a:p>
        </p:txBody>
      </p:sp>
      <p:sp>
        <p:nvSpPr>
          <p:cNvPr id="102" name="Shape 87"/>
          <p:cNvSpPr/>
          <p:nvPr/>
        </p:nvSpPr>
        <p:spPr>
          <a:xfrm>
            <a:off x="7541971" y="2395728"/>
            <a:ext cx="292608" cy="475488"/>
          </a:xfrm>
          <a:prstGeom prst="downArrow">
            <a:avLst/>
          </a:prstGeom>
          <a:solidFill>
            <a:srgbClr val="2F6BD8"/>
          </a:solidFill>
          <a:ln/>
        </p:spPr>
      </p:sp>
      <p:sp>
        <p:nvSpPr>
          <p:cNvPr id="103" name="Shape 88"/>
          <p:cNvSpPr/>
          <p:nvPr/>
        </p:nvSpPr>
        <p:spPr>
          <a:xfrm>
            <a:off x="7046366" y="2999232"/>
            <a:ext cx="128381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240">
            <a:solidFill>
              <a:srgbClr val="2F6BD8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pic>
        <p:nvPicPr>
          <p:cNvPr id="10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2670" y="3406140"/>
            <a:ext cx="329184" cy="329184"/>
          </a:xfrm>
          <a:prstGeom prst="rect">
            <a:avLst/>
          </a:prstGeom>
        </p:spPr>
      </p:pic>
      <p:sp>
        <p:nvSpPr>
          <p:cNvPr id="105" name="Text 89"/>
          <p:cNvSpPr/>
          <p:nvPr/>
        </p:nvSpPr>
        <p:spPr>
          <a:xfrm>
            <a:off x="7558430" y="2999232"/>
            <a:ext cx="7168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</a:t>
            </a:r>
            <a:endParaRPr lang="en-US" sz="1200" dirty="0"/>
          </a:p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</a:t>
            </a:r>
            <a:endParaRPr lang="en-US" sz="1200" dirty="0"/>
          </a:p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diffusion</a:t>
            </a:r>
            <a:endParaRPr lang="en-US" sz="1200" dirty="0"/>
          </a:p>
        </p:txBody>
      </p:sp>
      <p:sp>
        <p:nvSpPr>
          <p:cNvPr id="106" name="Shape 90"/>
          <p:cNvSpPr/>
          <p:nvPr/>
        </p:nvSpPr>
        <p:spPr>
          <a:xfrm>
            <a:off x="7541971" y="4261104"/>
            <a:ext cx="292608" cy="475488"/>
          </a:xfrm>
          <a:prstGeom prst="downArrow">
            <a:avLst/>
          </a:prstGeom>
          <a:solidFill>
            <a:srgbClr val="2F6BD8"/>
          </a:solidFill>
          <a:ln/>
        </p:spPr>
      </p:sp>
      <p:sp>
        <p:nvSpPr>
          <p:cNvPr id="107" name="Shape 91"/>
          <p:cNvSpPr/>
          <p:nvPr/>
        </p:nvSpPr>
        <p:spPr>
          <a:xfrm>
            <a:off x="7046366" y="4864608"/>
            <a:ext cx="1283818" cy="960120"/>
          </a:xfrm>
          <a:prstGeom prst="roundRect">
            <a:avLst>
              <a:gd name="adj" fmla="val 6667"/>
            </a:avLst>
          </a:prstGeom>
          <a:solidFill>
            <a:srgbClr val="EAF1FC"/>
          </a:solidFill>
          <a:ln w="15240">
            <a:solidFill>
              <a:srgbClr val="2F6BD8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pic>
        <p:nvPicPr>
          <p:cNvPr id="10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2670" y="5180076"/>
            <a:ext cx="329184" cy="329184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7558430" y="4864608"/>
            <a:ext cx="7168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100" dirty="0"/>
          </a:p>
          <a:p>
            <a:pPr algn="l" indent="0" marL="0">
              <a:lnSpc>
                <a:spcPct val="96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6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y</a:t>
            </a:r>
            <a:endParaRPr lang="en-US" sz="1100" dirty="0"/>
          </a:p>
        </p:txBody>
      </p:sp>
      <p:sp>
        <p:nvSpPr>
          <p:cNvPr id="110" name="Shape 93"/>
          <p:cNvSpPr/>
          <p:nvPr/>
        </p:nvSpPr>
        <p:spPr>
          <a:xfrm>
            <a:off x="8951976" y="1133856"/>
            <a:ext cx="1283818" cy="603504"/>
          </a:xfrm>
          <a:prstGeom prst="roundRect">
            <a:avLst>
              <a:gd name="adj" fmla="val 9091"/>
            </a:avLst>
          </a:prstGeom>
          <a:solidFill>
            <a:srgbClr val="FBEDED"/>
          </a:solidFill>
          <a:ln w="13970">
            <a:solidFill>
              <a:srgbClr val="D23B3B"/>
            </a:solidFill>
            <a:prstDash val="solid"/>
          </a:ln>
        </p:spPr>
      </p:sp>
      <p:sp>
        <p:nvSpPr>
          <p:cNvPr id="111" name="Text 94"/>
          <p:cNvSpPr/>
          <p:nvPr/>
        </p:nvSpPr>
        <p:spPr>
          <a:xfrm>
            <a:off x="8997696" y="1133856"/>
            <a:ext cx="11923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record  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4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· b · m)</a:t>
            </a:r>
            <a:endParaRPr lang="en-US" sz="1050" dirty="0"/>
          </a:p>
        </p:txBody>
      </p:sp>
      <p:sp>
        <p:nvSpPr>
          <p:cNvPr id="112" name="Shape 95"/>
          <p:cNvSpPr/>
          <p:nvPr/>
        </p:nvSpPr>
        <p:spPr>
          <a:xfrm>
            <a:off x="9484157" y="1792224"/>
            <a:ext cx="219456" cy="274320"/>
          </a:xfrm>
          <a:prstGeom prst="downArrow">
            <a:avLst/>
          </a:prstGeom>
          <a:solidFill>
            <a:srgbClr val="D23B3B"/>
          </a:solidFill>
          <a:ln/>
        </p:spPr>
      </p:sp>
      <p:sp>
        <p:nvSpPr>
          <p:cNvPr id="113" name="Shape 96"/>
          <p:cNvSpPr/>
          <p:nvPr/>
        </p:nvSpPr>
        <p:spPr>
          <a:xfrm>
            <a:off x="8951976" y="2157984"/>
            <a:ext cx="1283818" cy="420624"/>
          </a:xfrm>
          <a:prstGeom prst="roundRect">
            <a:avLst>
              <a:gd name="adj" fmla="val 10870"/>
            </a:avLst>
          </a:prstGeom>
          <a:solidFill>
            <a:srgbClr val="D23B3B"/>
          </a:solidFill>
          <a:ln/>
        </p:spPr>
      </p:sp>
      <p:pic>
        <p:nvPicPr>
          <p:cNvPr id="11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1704" y="2258568"/>
            <a:ext cx="219456" cy="219456"/>
          </a:xfrm>
          <a:prstGeom prst="rect">
            <a:avLst/>
          </a:prstGeom>
        </p:spPr>
      </p:pic>
      <p:sp>
        <p:nvSpPr>
          <p:cNvPr id="115" name="Text 97"/>
          <p:cNvSpPr/>
          <p:nvPr/>
        </p:nvSpPr>
        <p:spPr>
          <a:xfrm>
            <a:off x="9262872" y="2157984"/>
            <a:ext cx="918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attack-specific judge</a:t>
            </a:r>
            <a:endParaRPr lang="en-US" sz="920" dirty="0"/>
          </a:p>
        </p:txBody>
      </p:sp>
      <p:sp>
        <p:nvSpPr>
          <p:cNvPr id="116" name="Shape 98"/>
          <p:cNvSpPr/>
          <p:nvPr/>
        </p:nvSpPr>
        <p:spPr>
          <a:xfrm>
            <a:off x="8951976" y="2688336"/>
            <a:ext cx="1283818" cy="493776"/>
          </a:xfrm>
          <a:prstGeom prst="roundRect">
            <a:avLst>
              <a:gd name="adj" fmla="val 9259"/>
            </a:avLst>
          </a:prstGeom>
          <a:solidFill>
            <a:srgbClr val="FDF6F6"/>
          </a:solidFill>
          <a:ln w="10795">
            <a:solidFill>
              <a:srgbClr val="D23B3B"/>
            </a:solidFill>
            <a:prstDash val="solid"/>
          </a:ln>
        </p:spPr>
      </p:sp>
      <p:sp>
        <p:nvSpPr>
          <p:cNvPr id="117" name="Text 99"/>
          <p:cNvSpPr/>
          <p:nvPr/>
        </p:nvSpPr>
        <p:spPr>
          <a:xfrm>
            <a:off x="9006840" y="2688336"/>
            <a:ext cx="11740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PiF </a:t>
            </a:r>
            <a:pPr algn="ctr" indent="0" marL="0">
              <a:buNone/>
            </a:pPr>
            <a:r>
              <a:rPr lang="en-US" sz="94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pass / fail</a:t>
            </a:r>
            <a:endParaRPr lang="en-US" sz="1400" dirty="0"/>
          </a:p>
        </p:txBody>
      </p:sp>
      <p:sp>
        <p:nvSpPr>
          <p:cNvPr id="118" name="Shape 100"/>
          <p:cNvSpPr/>
          <p:nvPr/>
        </p:nvSpPr>
        <p:spPr>
          <a:xfrm>
            <a:off x="8951976" y="3273552"/>
            <a:ext cx="1283818" cy="493776"/>
          </a:xfrm>
          <a:prstGeom prst="roundRect">
            <a:avLst>
              <a:gd name="adj" fmla="val 9259"/>
            </a:avLst>
          </a:prstGeom>
          <a:solidFill>
            <a:srgbClr val="FDF6F6"/>
          </a:solidFill>
          <a:ln w="10795">
            <a:solidFill>
              <a:srgbClr val="D23B3B"/>
            </a:solidFill>
            <a:prstDash val="solid"/>
          </a:ln>
        </p:spPr>
      </p:sp>
      <p:sp>
        <p:nvSpPr>
          <p:cNvPr id="119" name="Text 101"/>
          <p:cNvSpPr/>
          <p:nvPr/>
        </p:nvSpPr>
        <p:spPr>
          <a:xfrm>
            <a:off x="9006840" y="3273552"/>
            <a:ext cx="11740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</a:t>
            </a:r>
            <a:pPr algn="ctr" indent="0" marL="0">
              <a:buNone/>
            </a:pPr>
            <a:r>
              <a:rPr lang="en-US" sz="94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pass / fail</a:t>
            </a:r>
            <a:endParaRPr lang="en-US" sz="1400" dirty="0"/>
          </a:p>
        </p:txBody>
      </p:sp>
      <p:sp>
        <p:nvSpPr>
          <p:cNvPr id="120" name="Shape 102"/>
          <p:cNvSpPr/>
          <p:nvPr/>
        </p:nvSpPr>
        <p:spPr>
          <a:xfrm>
            <a:off x="8951976" y="3858768"/>
            <a:ext cx="1283818" cy="493776"/>
          </a:xfrm>
          <a:prstGeom prst="roundRect">
            <a:avLst>
              <a:gd name="adj" fmla="val 9259"/>
            </a:avLst>
          </a:prstGeom>
          <a:solidFill>
            <a:srgbClr val="FDF6F6"/>
          </a:solidFill>
          <a:ln w="10795">
            <a:solidFill>
              <a:srgbClr val="D23B3B"/>
            </a:solidFill>
            <a:prstDash val="solid"/>
          </a:ln>
        </p:spPr>
      </p:sp>
      <p:sp>
        <p:nvSpPr>
          <p:cNvPr id="121" name="Text 103"/>
          <p:cNvSpPr/>
          <p:nvPr/>
        </p:nvSpPr>
        <p:spPr>
          <a:xfrm>
            <a:off x="9006840" y="3858768"/>
            <a:ext cx="11740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</a:t>
            </a:r>
            <a:pPr algn="ctr" indent="0" marL="0">
              <a:buNone/>
            </a:pPr>
            <a:r>
              <a:rPr lang="en-US" sz="94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pass / fail</a:t>
            </a:r>
            <a:endParaRPr lang="en-US" sz="1400" dirty="0"/>
          </a:p>
        </p:txBody>
      </p:sp>
      <p:sp>
        <p:nvSpPr>
          <p:cNvPr id="122" name="Shape 104"/>
          <p:cNvSpPr/>
          <p:nvPr/>
        </p:nvSpPr>
        <p:spPr>
          <a:xfrm>
            <a:off x="9484157" y="4462272"/>
            <a:ext cx="219456" cy="274320"/>
          </a:xfrm>
          <a:prstGeom prst="downArrow">
            <a:avLst/>
          </a:prstGeom>
          <a:solidFill>
            <a:srgbClr val="D23B3B"/>
          </a:solidFill>
          <a:ln/>
        </p:spPr>
      </p:sp>
      <p:sp>
        <p:nvSpPr>
          <p:cNvPr id="123" name="Shape 105"/>
          <p:cNvSpPr/>
          <p:nvPr/>
        </p:nvSpPr>
        <p:spPr>
          <a:xfrm>
            <a:off x="8951976" y="4828032"/>
            <a:ext cx="128381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6510">
            <a:solidFill>
              <a:srgbClr val="D23B3B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24" name="Text 106"/>
          <p:cNvSpPr/>
          <p:nvPr/>
        </p:nvSpPr>
        <p:spPr>
          <a:xfrm>
            <a:off x="8997696" y="4828032"/>
            <a:ext cx="119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success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∈ {0, 1}</a:t>
            </a:r>
            <a:endParaRPr lang="en-US" sz="1100" dirty="0"/>
          </a:p>
          <a:p>
            <a:pPr algn="ctr" indent="0" marL="0">
              <a:lnSpc>
                <a:spcPct val="95000"/>
              </a:lnSpc>
              <a:spcAft>
                <a:spcPts val="100"/>
              </a:spcAft>
              <a:buNone/>
            </a:pPr>
            <a:r>
              <a:rPr lang="en-US" sz="8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ASR</a:t>
            </a:r>
            <a:endParaRPr lang="en-US" sz="1100" dirty="0"/>
          </a:p>
        </p:txBody>
      </p:sp>
      <p:sp>
        <p:nvSpPr>
          <p:cNvPr id="125" name="Text 107"/>
          <p:cNvSpPr/>
          <p:nvPr/>
        </p:nvSpPr>
        <p:spPr>
          <a:xfrm>
            <a:off x="10546690" y="1133856"/>
            <a:ext cx="128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by model</a:t>
            </a:r>
            <a:endParaRPr lang="en-US" sz="1000" dirty="0"/>
          </a:p>
        </p:txBody>
      </p:sp>
      <p:sp>
        <p:nvSpPr>
          <p:cNvPr id="126" name="Shape 108"/>
          <p:cNvSpPr/>
          <p:nvPr/>
        </p:nvSpPr>
        <p:spPr>
          <a:xfrm>
            <a:off x="10582808" y="1426464"/>
            <a:ext cx="182880" cy="182880"/>
          </a:xfrm>
          <a:prstGeom prst="rect">
            <a:avLst/>
          </a:prstGeom>
          <a:solidFill>
            <a:srgbClr val="2F6BD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10788548" y="1426464"/>
            <a:ext cx="182880" cy="182880"/>
          </a:xfrm>
          <a:prstGeom prst="rect">
            <a:avLst/>
          </a:prstGeom>
          <a:solidFill>
            <a:srgbClr val="5B8FE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8" name="Shape 110"/>
          <p:cNvSpPr/>
          <p:nvPr/>
        </p:nvSpPr>
        <p:spPr>
          <a:xfrm>
            <a:off x="10994288" y="1426464"/>
            <a:ext cx="182880" cy="182880"/>
          </a:xfrm>
          <a:prstGeom prst="rect">
            <a:avLst/>
          </a:prstGeom>
          <a:solidFill>
            <a:srgbClr val="9BBE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11200028" y="1426464"/>
            <a:ext cx="182880" cy="182880"/>
          </a:xfrm>
          <a:prstGeom prst="rect">
            <a:avLst/>
          </a:prstGeom>
          <a:solidFill>
            <a:srgbClr val="1B3A7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0" name="Shape 112"/>
          <p:cNvSpPr/>
          <p:nvPr/>
        </p:nvSpPr>
        <p:spPr>
          <a:xfrm>
            <a:off x="11405768" y="1426464"/>
            <a:ext cx="182880" cy="182880"/>
          </a:xfrm>
          <a:prstGeom prst="rect">
            <a:avLst/>
          </a:prstGeom>
          <a:solidFill>
            <a:srgbClr val="D7E3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1" name="Shape 113"/>
          <p:cNvSpPr/>
          <p:nvPr/>
        </p:nvSpPr>
        <p:spPr>
          <a:xfrm>
            <a:off x="11611508" y="1426464"/>
            <a:ext cx="182880" cy="182880"/>
          </a:xfrm>
          <a:prstGeom prst="rect">
            <a:avLst/>
          </a:prstGeom>
          <a:solidFill>
            <a:srgbClr val="BCD2F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10582808" y="1632204"/>
            <a:ext cx="182880" cy="182880"/>
          </a:xfrm>
          <a:prstGeom prst="rect">
            <a:avLst/>
          </a:prstGeom>
          <a:solidFill>
            <a:srgbClr val="5B8FE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3" name="Shape 115"/>
          <p:cNvSpPr/>
          <p:nvPr/>
        </p:nvSpPr>
        <p:spPr>
          <a:xfrm>
            <a:off x="10788548" y="1632204"/>
            <a:ext cx="182880" cy="182880"/>
          </a:xfrm>
          <a:prstGeom prst="rect">
            <a:avLst/>
          </a:prstGeom>
          <a:solidFill>
            <a:srgbClr val="9BBE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4" name="Shape 116"/>
          <p:cNvSpPr/>
          <p:nvPr/>
        </p:nvSpPr>
        <p:spPr>
          <a:xfrm>
            <a:off x="10994288" y="1632204"/>
            <a:ext cx="182880" cy="182880"/>
          </a:xfrm>
          <a:prstGeom prst="rect">
            <a:avLst/>
          </a:prstGeom>
          <a:solidFill>
            <a:srgbClr val="1B3A7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11200028" y="1632204"/>
            <a:ext cx="182880" cy="182880"/>
          </a:xfrm>
          <a:prstGeom prst="rect">
            <a:avLst/>
          </a:prstGeom>
          <a:solidFill>
            <a:srgbClr val="2F6BD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6" name="Shape 118"/>
          <p:cNvSpPr/>
          <p:nvPr/>
        </p:nvSpPr>
        <p:spPr>
          <a:xfrm>
            <a:off x="11405768" y="1632204"/>
            <a:ext cx="182880" cy="182880"/>
          </a:xfrm>
          <a:prstGeom prst="rect">
            <a:avLst/>
          </a:prstGeom>
          <a:solidFill>
            <a:srgbClr val="BCD2F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7" name="Shape 119"/>
          <p:cNvSpPr/>
          <p:nvPr/>
        </p:nvSpPr>
        <p:spPr>
          <a:xfrm>
            <a:off x="11611508" y="1632204"/>
            <a:ext cx="182880" cy="182880"/>
          </a:xfrm>
          <a:prstGeom prst="rect">
            <a:avLst/>
          </a:prstGeom>
          <a:solidFill>
            <a:srgbClr val="D7E3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8" name="Shape 120"/>
          <p:cNvSpPr/>
          <p:nvPr/>
        </p:nvSpPr>
        <p:spPr>
          <a:xfrm>
            <a:off x="10582808" y="1837944"/>
            <a:ext cx="182880" cy="182880"/>
          </a:xfrm>
          <a:prstGeom prst="rect">
            <a:avLst/>
          </a:prstGeom>
          <a:solidFill>
            <a:srgbClr val="9BBEF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9" name="Shape 121"/>
          <p:cNvSpPr/>
          <p:nvPr/>
        </p:nvSpPr>
        <p:spPr>
          <a:xfrm>
            <a:off x="10788548" y="1837944"/>
            <a:ext cx="182880" cy="182880"/>
          </a:xfrm>
          <a:prstGeom prst="rect">
            <a:avLst/>
          </a:prstGeom>
          <a:solidFill>
            <a:srgbClr val="1B3A7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0" name="Shape 122"/>
          <p:cNvSpPr/>
          <p:nvPr/>
        </p:nvSpPr>
        <p:spPr>
          <a:xfrm>
            <a:off x="10994288" y="1837944"/>
            <a:ext cx="182880" cy="182880"/>
          </a:xfrm>
          <a:prstGeom prst="rect">
            <a:avLst/>
          </a:prstGeom>
          <a:solidFill>
            <a:srgbClr val="BCD2F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1" name="Shape 123"/>
          <p:cNvSpPr/>
          <p:nvPr/>
        </p:nvSpPr>
        <p:spPr>
          <a:xfrm>
            <a:off x="11200028" y="1837944"/>
            <a:ext cx="182880" cy="182880"/>
          </a:xfrm>
          <a:prstGeom prst="rect">
            <a:avLst/>
          </a:prstGeom>
          <a:solidFill>
            <a:srgbClr val="D7E3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11405768" y="1837944"/>
            <a:ext cx="182880" cy="182880"/>
          </a:xfrm>
          <a:prstGeom prst="rect">
            <a:avLst/>
          </a:prstGeom>
          <a:solidFill>
            <a:srgbClr val="5B8FE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11611508" y="1837944"/>
            <a:ext cx="182880" cy="182880"/>
          </a:xfrm>
          <a:prstGeom prst="rect">
            <a:avLst/>
          </a:prstGeom>
          <a:solidFill>
            <a:srgbClr val="2F6BD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4" name="Text 126"/>
          <p:cNvSpPr/>
          <p:nvPr/>
        </p:nvSpPr>
        <p:spPr>
          <a:xfrm>
            <a:off x="10546690" y="2061972"/>
            <a:ext cx="128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attacks × 6 models</a:t>
            </a:r>
            <a:endParaRPr lang="en-US" sz="740" dirty="0"/>
          </a:p>
        </p:txBody>
      </p:sp>
      <p:sp>
        <p:nvSpPr>
          <p:cNvPr id="145" name="Text 127"/>
          <p:cNvSpPr/>
          <p:nvPr/>
        </p:nvSpPr>
        <p:spPr>
          <a:xfrm>
            <a:off x="10546690" y="2560320"/>
            <a:ext cx="128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by benchmark</a:t>
            </a:r>
            <a:endParaRPr lang="en-US" sz="1000" dirty="0"/>
          </a:p>
        </p:txBody>
      </p:sp>
      <p:sp>
        <p:nvSpPr>
          <p:cNvPr id="146" name="Shape 128"/>
          <p:cNvSpPr/>
          <p:nvPr/>
        </p:nvSpPr>
        <p:spPr>
          <a:xfrm>
            <a:off x="10740076" y="3013862"/>
            <a:ext cx="153637" cy="570586"/>
          </a:xfrm>
          <a:prstGeom prst="rect">
            <a:avLst/>
          </a:prstGeom>
          <a:solidFill>
            <a:srgbClr val="1E9E57"/>
          </a:solidFill>
          <a:ln/>
        </p:spPr>
      </p:sp>
      <p:sp>
        <p:nvSpPr>
          <p:cNvPr id="147" name="Shape 129"/>
          <p:cNvSpPr/>
          <p:nvPr/>
        </p:nvSpPr>
        <p:spPr>
          <a:xfrm>
            <a:off x="10987878" y="3204058"/>
            <a:ext cx="153637" cy="380390"/>
          </a:xfrm>
          <a:prstGeom prst="rect">
            <a:avLst/>
          </a:prstGeom>
          <a:solidFill>
            <a:srgbClr val="1E9E57"/>
          </a:solidFill>
          <a:ln/>
        </p:spPr>
      </p:sp>
      <p:sp>
        <p:nvSpPr>
          <p:cNvPr id="148" name="Shape 130"/>
          <p:cNvSpPr/>
          <p:nvPr/>
        </p:nvSpPr>
        <p:spPr>
          <a:xfrm>
            <a:off x="11235681" y="2889504"/>
            <a:ext cx="153637" cy="694944"/>
          </a:xfrm>
          <a:prstGeom prst="rect">
            <a:avLst/>
          </a:prstGeom>
          <a:solidFill>
            <a:srgbClr val="1E9E57"/>
          </a:solidFill>
          <a:ln/>
        </p:spPr>
      </p:sp>
      <p:sp>
        <p:nvSpPr>
          <p:cNvPr id="149" name="Shape 131"/>
          <p:cNvSpPr/>
          <p:nvPr/>
        </p:nvSpPr>
        <p:spPr>
          <a:xfrm>
            <a:off x="11483483" y="3101645"/>
            <a:ext cx="153637" cy="482803"/>
          </a:xfrm>
          <a:prstGeom prst="rect">
            <a:avLst/>
          </a:prstGeom>
          <a:solidFill>
            <a:srgbClr val="1E9E57"/>
          </a:solidFill>
          <a:ln/>
        </p:spPr>
      </p:sp>
      <p:sp>
        <p:nvSpPr>
          <p:cNvPr id="150" name="Shape 132"/>
          <p:cNvSpPr/>
          <p:nvPr/>
        </p:nvSpPr>
        <p:spPr>
          <a:xfrm>
            <a:off x="10692994" y="3584448"/>
            <a:ext cx="991210" cy="0"/>
          </a:xfrm>
          <a:prstGeom prst="line">
            <a:avLst/>
          </a:prstGeom>
          <a:noFill/>
          <a:ln w="10160">
            <a:solidFill>
              <a:srgbClr val="C9D1DC"/>
            </a:solidFill>
            <a:prstDash val="solid"/>
          </a:ln>
        </p:spPr>
      </p:sp>
      <p:sp>
        <p:nvSpPr>
          <p:cNvPr id="151" name="Text 133"/>
          <p:cNvSpPr/>
          <p:nvPr/>
        </p:nvSpPr>
        <p:spPr>
          <a:xfrm>
            <a:off x="10546690" y="3877056"/>
            <a:ext cx="1283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by attack</a:t>
            </a:r>
            <a:endParaRPr lang="en-US" sz="1000" dirty="0"/>
          </a:p>
        </p:txBody>
      </p:sp>
      <p:sp>
        <p:nvSpPr>
          <p:cNvPr id="152" name="Shape 134"/>
          <p:cNvSpPr/>
          <p:nvPr/>
        </p:nvSpPr>
        <p:spPr>
          <a:xfrm>
            <a:off x="10665562" y="4187952"/>
            <a:ext cx="1025152" cy="310896"/>
          </a:xfrm>
          <a:prstGeom prst="roundRect">
            <a:avLst>
              <a:gd name="adj" fmla="val 8824"/>
            </a:avLst>
          </a:prstGeom>
          <a:solidFill>
            <a:srgbClr val="E07B1A"/>
          </a:solidFill>
          <a:ln/>
        </p:spPr>
      </p:sp>
      <p:sp>
        <p:nvSpPr>
          <p:cNvPr id="153" name="Text 135"/>
          <p:cNvSpPr/>
          <p:nvPr/>
        </p:nvSpPr>
        <p:spPr>
          <a:xfrm>
            <a:off x="10720426" y="4187952"/>
            <a:ext cx="93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ArrAttack</a:t>
            </a:r>
            <a:endParaRPr lang="en-US" sz="880" dirty="0"/>
          </a:p>
        </p:txBody>
      </p:sp>
      <p:sp>
        <p:nvSpPr>
          <p:cNvPr id="154" name="Shape 136"/>
          <p:cNvSpPr/>
          <p:nvPr/>
        </p:nvSpPr>
        <p:spPr>
          <a:xfrm>
            <a:off x="10665562" y="4636008"/>
            <a:ext cx="774094" cy="310896"/>
          </a:xfrm>
          <a:prstGeom prst="roundRect">
            <a:avLst>
              <a:gd name="adj" fmla="val 8824"/>
            </a:avLst>
          </a:prstGeom>
          <a:solidFill>
            <a:srgbClr val="E07B1A"/>
          </a:solidFill>
          <a:ln/>
        </p:spPr>
      </p:sp>
      <p:sp>
        <p:nvSpPr>
          <p:cNvPr id="155" name="Text 137"/>
          <p:cNvSpPr/>
          <p:nvPr/>
        </p:nvSpPr>
        <p:spPr>
          <a:xfrm>
            <a:off x="10720426" y="4636008"/>
            <a:ext cx="93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MetaCipher</a:t>
            </a:r>
            <a:endParaRPr lang="en-US" sz="880" dirty="0"/>
          </a:p>
        </p:txBody>
      </p:sp>
      <p:sp>
        <p:nvSpPr>
          <p:cNvPr id="156" name="Shape 138"/>
          <p:cNvSpPr/>
          <p:nvPr/>
        </p:nvSpPr>
        <p:spPr>
          <a:xfrm>
            <a:off x="10665562" y="5084064"/>
            <a:ext cx="543958" cy="310896"/>
          </a:xfrm>
          <a:prstGeom prst="roundRect">
            <a:avLst>
              <a:gd name="adj" fmla="val 8824"/>
            </a:avLst>
          </a:prstGeom>
          <a:solidFill>
            <a:srgbClr val="E07B1A"/>
          </a:solidFill>
          <a:ln/>
        </p:spPr>
      </p:sp>
      <p:sp>
        <p:nvSpPr>
          <p:cNvPr id="157" name="Text 139"/>
          <p:cNvSpPr/>
          <p:nvPr/>
        </p:nvSpPr>
        <p:spPr>
          <a:xfrm>
            <a:off x="10720426" y="5084064"/>
            <a:ext cx="93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PiF</a:t>
            </a:r>
            <a:endParaRPr lang="en-US" sz="880" dirty="0"/>
          </a:p>
        </p:txBody>
      </p:sp>
      <p:sp>
        <p:nvSpPr>
          <p:cNvPr id="158" name="Shape 140"/>
          <p:cNvSpPr/>
          <p:nvPr/>
        </p:nvSpPr>
        <p:spPr>
          <a:xfrm>
            <a:off x="10546690" y="5687568"/>
            <a:ext cx="1283818" cy="713232"/>
          </a:xfrm>
          <a:prstGeom prst="roundRect">
            <a:avLst>
              <a:gd name="adj" fmla="val 8974"/>
            </a:avLst>
          </a:prstGeom>
          <a:solidFill>
            <a:srgbClr val="F2F4F7"/>
          </a:solidFill>
          <a:ln w="10160">
            <a:solidFill>
              <a:srgbClr val="C9D1DC"/>
            </a:solidFill>
            <a:prstDash val="solid"/>
          </a:ln>
        </p:spPr>
      </p:sp>
      <p:pic>
        <p:nvPicPr>
          <p:cNvPr id="15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4706" y="5897880"/>
            <a:ext cx="292608" cy="292608"/>
          </a:xfrm>
          <a:prstGeom prst="rect">
            <a:avLst/>
          </a:prstGeom>
        </p:spPr>
      </p:pic>
      <p:sp>
        <p:nvSpPr>
          <p:cNvPr id="160" name="Text 141"/>
          <p:cNvSpPr/>
          <p:nvPr/>
        </p:nvSpPr>
        <p:spPr>
          <a:xfrm>
            <a:off x="10930738" y="5687568"/>
            <a:ext cx="82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8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800" dirty="0"/>
          </a:p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4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2026-06-21T11:03:08Z</dcterms:created>
  <dcterms:modified xsi:type="dcterms:W3CDTF">2026-06-21T11:03:08Z</dcterms:modified>
</cp:coreProperties>
</file>